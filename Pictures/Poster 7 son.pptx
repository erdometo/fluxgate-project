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Lst>
  <p:sldSz cx="21599525" cy="288004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67" autoAdjust="0"/>
    <p:restoredTop sz="94660"/>
  </p:normalViewPr>
  <p:slideViewPr>
    <p:cSldViewPr snapToGrid="0">
      <p:cViewPr>
        <p:scale>
          <a:sx n="66" d="100"/>
          <a:sy n="66" d="100"/>
        </p:scale>
        <p:origin x="-278" y="-234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şlık Slaydı">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432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1484968" y="1533362"/>
            <a:ext cx="18629590" cy="5566751"/>
          </a:xfrm>
          <a:prstGeom prst="rect">
            <a:avLst/>
          </a:prstGeom>
        </p:spPr>
        <p:txBody>
          <a:bodyPr/>
          <a:lstStyle/>
          <a:p>
            <a:r>
              <a:rPr lang="tr-TR"/>
              <a:t>Asıl başlık stili için tıklatın</a:t>
            </a:r>
            <a:endParaRPr lang="en-US" dirty="0"/>
          </a:p>
        </p:txBody>
      </p:sp>
      <p:sp>
        <p:nvSpPr>
          <p:cNvPr id="3" name="Content Placeholder 2"/>
          <p:cNvSpPr>
            <a:spLocks noGrp="1"/>
          </p:cNvSpPr>
          <p:nvPr>
            <p:ph idx="1"/>
          </p:nvPr>
        </p:nvSpPr>
        <p:spPr>
          <a:xfrm>
            <a:off x="1484968" y="7666780"/>
            <a:ext cx="18629590" cy="18273605"/>
          </a:xfrm>
          <a:prstGeom prst="rect">
            <a:avLst/>
          </a:prstGeo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5" name="Footer Placeholder 4"/>
          <p:cNvSpPr>
            <a:spLocks noGrp="1"/>
          </p:cNvSpPr>
          <p:nvPr>
            <p:ph type="ftr" sz="quarter" idx="11"/>
          </p:nvPr>
        </p:nvSpPr>
        <p:spPr>
          <a:xfrm>
            <a:off x="7154843" y="26693734"/>
            <a:ext cx="7289840" cy="1533356"/>
          </a:xfrm>
          <a:prstGeom prst="rect">
            <a:avLst/>
          </a:prstGeom>
        </p:spPr>
        <p:txBody>
          <a:bodyPr/>
          <a:lstStyle/>
          <a:p>
            <a:endParaRPr lang="en-CA"/>
          </a:p>
        </p:txBody>
      </p:sp>
      <p:sp>
        <p:nvSpPr>
          <p:cNvPr id="6" name="Slide Number Placeholder 5"/>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4158277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1473719" y="7180114"/>
            <a:ext cx="18629590" cy="11980175"/>
          </a:xfrm>
          <a:prstGeom prst="rect">
            <a:avLst/>
          </a:prstGeom>
        </p:spPr>
        <p:txBody>
          <a:bodyPr anchor="b"/>
          <a:lstStyle>
            <a:lvl1pPr>
              <a:defRPr sz="14173"/>
            </a:lvl1pPr>
          </a:lstStyle>
          <a:p>
            <a:r>
              <a:rPr lang="tr-TR"/>
              <a:t>Asıl başlık stili için tıklatın</a:t>
            </a:r>
            <a:endParaRPr lang="en-US" dirty="0"/>
          </a:p>
        </p:txBody>
      </p:sp>
      <p:sp>
        <p:nvSpPr>
          <p:cNvPr id="3" name="Text Placeholder 2"/>
          <p:cNvSpPr>
            <a:spLocks noGrp="1"/>
          </p:cNvSpPr>
          <p:nvPr>
            <p:ph type="body" idx="1"/>
          </p:nvPr>
        </p:nvSpPr>
        <p:spPr>
          <a:xfrm>
            <a:off x="1473719" y="19273626"/>
            <a:ext cx="18629590" cy="6300091"/>
          </a:xfrm>
          <a:prstGeom prst="rect">
            <a:avLst/>
          </a:prstGeo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5" name="Footer Placeholder 4"/>
          <p:cNvSpPr>
            <a:spLocks noGrp="1"/>
          </p:cNvSpPr>
          <p:nvPr>
            <p:ph type="ftr" sz="quarter" idx="11"/>
          </p:nvPr>
        </p:nvSpPr>
        <p:spPr>
          <a:xfrm>
            <a:off x="7154843" y="26693734"/>
            <a:ext cx="7289840" cy="1533356"/>
          </a:xfrm>
          <a:prstGeom prst="rect">
            <a:avLst/>
          </a:prstGeom>
        </p:spPr>
        <p:txBody>
          <a:bodyPr/>
          <a:lstStyle/>
          <a:p>
            <a:endParaRPr lang="en-CA"/>
          </a:p>
        </p:txBody>
      </p:sp>
      <p:sp>
        <p:nvSpPr>
          <p:cNvPr id="6" name="Slide Number Placeholder 5"/>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4017348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1484968" y="1533362"/>
            <a:ext cx="18629590" cy="5566751"/>
          </a:xfrm>
          <a:prstGeom prst="rect">
            <a:avLst/>
          </a:prstGeom>
        </p:spPr>
        <p:txBody>
          <a:bodyPr/>
          <a:lstStyle/>
          <a:p>
            <a:r>
              <a:rPr lang="tr-TR"/>
              <a:t>Asıl başlık stili için tıklatın</a:t>
            </a:r>
            <a:endParaRPr lang="en-US" dirty="0"/>
          </a:p>
        </p:txBody>
      </p:sp>
      <p:sp>
        <p:nvSpPr>
          <p:cNvPr id="3" name="Content Placeholder 2"/>
          <p:cNvSpPr>
            <a:spLocks noGrp="1"/>
          </p:cNvSpPr>
          <p:nvPr>
            <p:ph sz="half" idx="1"/>
          </p:nvPr>
        </p:nvSpPr>
        <p:spPr>
          <a:xfrm>
            <a:off x="1484967" y="7666780"/>
            <a:ext cx="9179798" cy="18273605"/>
          </a:xfrm>
          <a:prstGeom prst="rect">
            <a:avLst/>
          </a:prstGeo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10934760" y="7666780"/>
            <a:ext cx="9179798" cy="18273605"/>
          </a:xfrm>
          <a:prstGeom prst="rect">
            <a:avLst/>
          </a:prstGeo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6" name="Footer Placeholder 5"/>
          <p:cNvSpPr>
            <a:spLocks noGrp="1"/>
          </p:cNvSpPr>
          <p:nvPr>
            <p:ph type="ftr" sz="quarter" idx="11"/>
          </p:nvPr>
        </p:nvSpPr>
        <p:spPr>
          <a:xfrm>
            <a:off x="7154843" y="26693734"/>
            <a:ext cx="7289840" cy="1533356"/>
          </a:xfrm>
          <a:prstGeom prst="rect">
            <a:avLst/>
          </a:prstGeom>
        </p:spPr>
        <p:txBody>
          <a:bodyPr/>
          <a:lstStyle/>
          <a:p>
            <a:endParaRPr lang="en-CA"/>
          </a:p>
        </p:txBody>
      </p:sp>
      <p:sp>
        <p:nvSpPr>
          <p:cNvPr id="7" name="Slide Number Placeholder 6"/>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4194683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487781" y="1533362"/>
            <a:ext cx="18629590" cy="5566751"/>
          </a:xfrm>
          <a:prstGeom prst="rect">
            <a:avLst/>
          </a:prstGeom>
        </p:spPr>
        <p:txBody>
          <a:bodyPr/>
          <a:lstStyle/>
          <a:p>
            <a:r>
              <a:rPr lang="tr-TR"/>
              <a:t>Asıl başlık stili için tıklatın</a:t>
            </a:r>
            <a:endParaRPr lang="en-US" dirty="0"/>
          </a:p>
        </p:txBody>
      </p:sp>
      <p:sp>
        <p:nvSpPr>
          <p:cNvPr id="3" name="Text Placeholder 2"/>
          <p:cNvSpPr>
            <a:spLocks noGrp="1"/>
          </p:cNvSpPr>
          <p:nvPr>
            <p:ph type="body" idx="1"/>
          </p:nvPr>
        </p:nvSpPr>
        <p:spPr>
          <a:xfrm>
            <a:off x="1487783" y="7060106"/>
            <a:ext cx="9137610" cy="3460049"/>
          </a:xfrm>
          <a:prstGeom prst="rect">
            <a:avLst/>
          </a:prstGeo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tr-TR"/>
              <a:t>Asıl metin stillerini düzenle</a:t>
            </a:r>
          </a:p>
        </p:txBody>
      </p:sp>
      <p:sp>
        <p:nvSpPr>
          <p:cNvPr id="4" name="Content Placeholder 3"/>
          <p:cNvSpPr>
            <a:spLocks noGrp="1"/>
          </p:cNvSpPr>
          <p:nvPr>
            <p:ph sz="half" idx="2"/>
          </p:nvPr>
        </p:nvSpPr>
        <p:spPr>
          <a:xfrm>
            <a:off x="1487783" y="10520155"/>
            <a:ext cx="9137610" cy="15473564"/>
          </a:xfrm>
          <a:prstGeom prst="rect">
            <a:avLst/>
          </a:prstGeo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10934761" y="7060106"/>
            <a:ext cx="9182611" cy="3460049"/>
          </a:xfrm>
          <a:prstGeom prst="rect">
            <a:avLst/>
          </a:prstGeo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tr-TR"/>
              <a:t>Asıl metin stillerini düzenle</a:t>
            </a:r>
          </a:p>
        </p:txBody>
      </p:sp>
      <p:sp>
        <p:nvSpPr>
          <p:cNvPr id="6" name="Content Placeholder 5"/>
          <p:cNvSpPr>
            <a:spLocks noGrp="1"/>
          </p:cNvSpPr>
          <p:nvPr>
            <p:ph sz="quarter" idx="4"/>
          </p:nvPr>
        </p:nvSpPr>
        <p:spPr>
          <a:xfrm>
            <a:off x="10934761" y="10520155"/>
            <a:ext cx="9182611" cy="15473564"/>
          </a:xfrm>
          <a:prstGeom prst="rect">
            <a:avLst/>
          </a:prstGeo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8" name="Footer Placeholder 7"/>
          <p:cNvSpPr>
            <a:spLocks noGrp="1"/>
          </p:cNvSpPr>
          <p:nvPr>
            <p:ph type="ftr" sz="quarter" idx="11"/>
          </p:nvPr>
        </p:nvSpPr>
        <p:spPr>
          <a:xfrm>
            <a:off x="7154843" y="26693734"/>
            <a:ext cx="7289840" cy="1533356"/>
          </a:xfrm>
          <a:prstGeom prst="rect">
            <a:avLst/>
          </a:prstGeom>
        </p:spPr>
        <p:txBody>
          <a:bodyPr/>
          <a:lstStyle/>
          <a:p>
            <a:endParaRPr lang="en-CA"/>
          </a:p>
        </p:txBody>
      </p:sp>
      <p:sp>
        <p:nvSpPr>
          <p:cNvPr id="9" name="Slide Number Placeholder 8"/>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3438132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1484968" y="1533362"/>
            <a:ext cx="18629590" cy="5566751"/>
          </a:xfrm>
          <a:prstGeom prst="rect">
            <a:avLst/>
          </a:prstGeom>
        </p:spPr>
        <p:txBody>
          <a:bodyPr/>
          <a:lstStyle/>
          <a:p>
            <a:r>
              <a:rPr lang="tr-TR"/>
              <a:t>Asıl başlık stili için tıklatın</a:t>
            </a:r>
            <a:endParaRPr lang="en-US" dirty="0"/>
          </a:p>
        </p:txBody>
      </p:sp>
      <p:sp>
        <p:nvSpPr>
          <p:cNvPr id="3" name="Date Placeholder 2"/>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4" name="Footer Placeholder 3"/>
          <p:cNvSpPr>
            <a:spLocks noGrp="1"/>
          </p:cNvSpPr>
          <p:nvPr>
            <p:ph type="ftr" sz="quarter" idx="11"/>
          </p:nvPr>
        </p:nvSpPr>
        <p:spPr>
          <a:xfrm>
            <a:off x="7154843" y="26693734"/>
            <a:ext cx="7289840" cy="1533356"/>
          </a:xfrm>
          <a:prstGeom prst="rect">
            <a:avLst/>
          </a:prstGeom>
        </p:spPr>
        <p:txBody>
          <a:bodyPr/>
          <a:lstStyle/>
          <a:p>
            <a:endParaRPr lang="en-CA"/>
          </a:p>
        </p:txBody>
      </p:sp>
      <p:sp>
        <p:nvSpPr>
          <p:cNvPr id="5" name="Slide Number Placeholder 4"/>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896085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3" name="Footer Placeholder 2"/>
          <p:cNvSpPr>
            <a:spLocks noGrp="1"/>
          </p:cNvSpPr>
          <p:nvPr>
            <p:ph type="ftr" sz="quarter" idx="11"/>
          </p:nvPr>
        </p:nvSpPr>
        <p:spPr>
          <a:xfrm>
            <a:off x="7154843" y="26693734"/>
            <a:ext cx="7289840" cy="1533356"/>
          </a:xfrm>
          <a:prstGeom prst="rect">
            <a:avLst/>
          </a:prstGeom>
        </p:spPr>
        <p:txBody>
          <a:bodyPr/>
          <a:lstStyle/>
          <a:p>
            <a:endParaRPr lang="en-CA"/>
          </a:p>
        </p:txBody>
      </p:sp>
      <p:sp>
        <p:nvSpPr>
          <p:cNvPr id="4" name="Slide Number Placeholder 3"/>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2039474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487781" y="1920028"/>
            <a:ext cx="6966409" cy="6720099"/>
          </a:xfrm>
          <a:prstGeom prst="rect">
            <a:avLst/>
          </a:prstGeom>
        </p:spPr>
        <p:txBody>
          <a:bodyPr anchor="b"/>
          <a:lstStyle>
            <a:lvl1pPr>
              <a:defRPr sz="7559"/>
            </a:lvl1pPr>
          </a:lstStyle>
          <a:p>
            <a:r>
              <a:rPr lang="tr-TR"/>
              <a:t>Asıl başlık stili için tıklatın</a:t>
            </a:r>
            <a:endParaRPr lang="en-US" dirty="0"/>
          </a:p>
        </p:txBody>
      </p:sp>
      <p:sp>
        <p:nvSpPr>
          <p:cNvPr id="3" name="Content Placeholder 2"/>
          <p:cNvSpPr>
            <a:spLocks noGrp="1"/>
          </p:cNvSpPr>
          <p:nvPr>
            <p:ph idx="1"/>
          </p:nvPr>
        </p:nvSpPr>
        <p:spPr>
          <a:xfrm>
            <a:off x="9182611" y="4146734"/>
            <a:ext cx="10934760" cy="20466969"/>
          </a:xfrm>
          <a:prstGeom prst="rect">
            <a:avLst/>
          </a:prstGeo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487781" y="8640127"/>
            <a:ext cx="6966409" cy="16006905"/>
          </a:xfrm>
          <a:prstGeom prst="rect">
            <a:avLst/>
          </a:prstGeo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tr-TR"/>
              <a:t>Asıl metin stillerini düzenle</a:t>
            </a:r>
          </a:p>
        </p:txBody>
      </p:sp>
      <p:sp>
        <p:nvSpPr>
          <p:cNvPr id="5" name="Date Placeholder 4"/>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6" name="Footer Placeholder 5"/>
          <p:cNvSpPr>
            <a:spLocks noGrp="1"/>
          </p:cNvSpPr>
          <p:nvPr>
            <p:ph type="ftr" sz="quarter" idx="11"/>
          </p:nvPr>
        </p:nvSpPr>
        <p:spPr>
          <a:xfrm>
            <a:off x="7154843" y="26693734"/>
            <a:ext cx="7289840" cy="1533356"/>
          </a:xfrm>
          <a:prstGeom prst="rect">
            <a:avLst/>
          </a:prstGeom>
        </p:spPr>
        <p:txBody>
          <a:bodyPr/>
          <a:lstStyle/>
          <a:p>
            <a:endParaRPr lang="en-CA"/>
          </a:p>
        </p:txBody>
      </p:sp>
      <p:sp>
        <p:nvSpPr>
          <p:cNvPr id="7" name="Slide Number Placeholder 6"/>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1076419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487781" y="1920028"/>
            <a:ext cx="6966409" cy="6720099"/>
          </a:xfrm>
          <a:prstGeom prst="rect">
            <a:avLst/>
          </a:prstGeom>
        </p:spPr>
        <p:txBody>
          <a:bodyPr anchor="b"/>
          <a:lstStyle>
            <a:lvl1pPr>
              <a:defRPr sz="7559"/>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9182611" y="4146734"/>
            <a:ext cx="10934760" cy="20466969"/>
          </a:xfrm>
          <a:prstGeom prst="rect">
            <a:avLst/>
          </a:prstGeo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tr-TR"/>
              <a:t>Resim eklemek için simgeyi tıklatın</a:t>
            </a:r>
            <a:endParaRPr lang="en-US" dirty="0"/>
          </a:p>
        </p:txBody>
      </p:sp>
      <p:sp>
        <p:nvSpPr>
          <p:cNvPr id="4" name="Text Placeholder 3"/>
          <p:cNvSpPr>
            <a:spLocks noGrp="1"/>
          </p:cNvSpPr>
          <p:nvPr>
            <p:ph type="body" sz="half" idx="2"/>
          </p:nvPr>
        </p:nvSpPr>
        <p:spPr>
          <a:xfrm>
            <a:off x="1487781" y="8640127"/>
            <a:ext cx="6966409" cy="16006905"/>
          </a:xfrm>
          <a:prstGeom prst="rect">
            <a:avLst/>
          </a:prstGeo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tr-TR"/>
              <a:t>Asıl metin stillerini düzenle</a:t>
            </a:r>
          </a:p>
        </p:txBody>
      </p:sp>
      <p:sp>
        <p:nvSpPr>
          <p:cNvPr id="5" name="Date Placeholder 4"/>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6" name="Footer Placeholder 5"/>
          <p:cNvSpPr>
            <a:spLocks noGrp="1"/>
          </p:cNvSpPr>
          <p:nvPr>
            <p:ph type="ftr" sz="quarter" idx="11"/>
          </p:nvPr>
        </p:nvSpPr>
        <p:spPr>
          <a:xfrm>
            <a:off x="7154843" y="26693734"/>
            <a:ext cx="7289840" cy="1533356"/>
          </a:xfrm>
          <a:prstGeom prst="rect">
            <a:avLst/>
          </a:prstGeom>
        </p:spPr>
        <p:txBody>
          <a:bodyPr/>
          <a:lstStyle/>
          <a:p>
            <a:endParaRPr lang="en-CA"/>
          </a:p>
        </p:txBody>
      </p:sp>
      <p:sp>
        <p:nvSpPr>
          <p:cNvPr id="7" name="Slide Number Placeholder 6"/>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832839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a:xfrm>
            <a:off x="1484968" y="1533362"/>
            <a:ext cx="18629590" cy="5566751"/>
          </a:xfrm>
          <a:prstGeom prst="rect">
            <a:avLst/>
          </a:prstGeom>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a:xfrm>
            <a:off x="1484968" y="7666780"/>
            <a:ext cx="18629590" cy="18273605"/>
          </a:xfrm>
          <a:prstGeom prst="rect">
            <a:avLst/>
          </a:prstGeo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5" name="Footer Placeholder 4"/>
          <p:cNvSpPr>
            <a:spLocks noGrp="1"/>
          </p:cNvSpPr>
          <p:nvPr>
            <p:ph type="ftr" sz="quarter" idx="11"/>
          </p:nvPr>
        </p:nvSpPr>
        <p:spPr>
          <a:xfrm>
            <a:off x="7154843" y="26693734"/>
            <a:ext cx="7289840" cy="1533356"/>
          </a:xfrm>
          <a:prstGeom prst="rect">
            <a:avLst/>
          </a:prstGeom>
        </p:spPr>
        <p:txBody>
          <a:bodyPr/>
          <a:lstStyle/>
          <a:p>
            <a:endParaRPr lang="en-CA"/>
          </a:p>
        </p:txBody>
      </p:sp>
      <p:sp>
        <p:nvSpPr>
          <p:cNvPr id="6" name="Slide Number Placeholder 5"/>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1908380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533356"/>
            <a:ext cx="4657398" cy="24407029"/>
          </a:xfrm>
          <a:prstGeom prst="rect">
            <a:avLst/>
          </a:prstGeo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1484968" y="1533356"/>
            <a:ext cx="13702199" cy="24407029"/>
          </a:xfrm>
          <a:prstGeom prst="rect">
            <a:avLst/>
          </a:prstGeo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484967" y="26693734"/>
            <a:ext cx="4859893" cy="1533356"/>
          </a:xfrm>
          <a:prstGeom prst="rect">
            <a:avLst/>
          </a:prstGeom>
        </p:spPr>
        <p:txBody>
          <a:bodyPr/>
          <a:lstStyle/>
          <a:p>
            <a:fld id="{1A4995C2-6FA6-4902-8303-2CC6F1122C5D}" type="datetimeFigureOut">
              <a:rPr lang="en-CA" smtClean="0"/>
              <a:t>2023-06-21</a:t>
            </a:fld>
            <a:endParaRPr lang="en-CA"/>
          </a:p>
        </p:txBody>
      </p:sp>
      <p:sp>
        <p:nvSpPr>
          <p:cNvPr id="5" name="Footer Placeholder 4"/>
          <p:cNvSpPr>
            <a:spLocks noGrp="1"/>
          </p:cNvSpPr>
          <p:nvPr>
            <p:ph type="ftr" sz="quarter" idx="11"/>
          </p:nvPr>
        </p:nvSpPr>
        <p:spPr>
          <a:xfrm>
            <a:off x="7154843" y="26693734"/>
            <a:ext cx="7289840" cy="1533356"/>
          </a:xfrm>
          <a:prstGeom prst="rect">
            <a:avLst/>
          </a:prstGeom>
        </p:spPr>
        <p:txBody>
          <a:bodyPr/>
          <a:lstStyle/>
          <a:p>
            <a:endParaRPr lang="en-CA"/>
          </a:p>
        </p:txBody>
      </p:sp>
      <p:sp>
        <p:nvSpPr>
          <p:cNvPr id="6" name="Slide Number Placeholder 5"/>
          <p:cNvSpPr>
            <a:spLocks noGrp="1"/>
          </p:cNvSpPr>
          <p:nvPr>
            <p:ph type="sldNum" sz="quarter" idx="12"/>
          </p:nvPr>
        </p:nvSpPr>
        <p:spPr>
          <a:xfrm>
            <a:off x="15254665" y="26693734"/>
            <a:ext cx="4859893" cy="1533356"/>
          </a:xfrm>
          <a:prstGeom prst="rect">
            <a:avLst/>
          </a:prstGeom>
        </p:spPr>
        <p:txBody>
          <a:bodyPr/>
          <a:lstStyle/>
          <a:p>
            <a:fld id="{A6E9A235-88FD-4E96-AECF-DF04B92960BA}" type="slidenum">
              <a:rPr lang="en-CA" smtClean="0"/>
              <a:t>‹#›</a:t>
            </a:fld>
            <a:endParaRPr lang="en-CA"/>
          </a:p>
        </p:txBody>
      </p:sp>
    </p:spTree>
    <p:extLst>
      <p:ext uri="{BB962C8B-B14F-4D97-AF65-F5344CB8AC3E}">
        <p14:creationId xmlns:p14="http://schemas.microsoft.com/office/powerpoint/2010/main" val="1792676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Resim 1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3511225"/>
            <a:ext cx="21599525" cy="25289200"/>
          </a:xfrm>
          <a:prstGeom prst="rect">
            <a:avLst/>
          </a:prstGeom>
        </p:spPr>
      </p:pic>
      <p:pic>
        <p:nvPicPr>
          <p:cNvPr id="5" name="Resim 4"/>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05352" y="452703"/>
            <a:ext cx="19988817" cy="1927296"/>
          </a:xfrm>
          <a:prstGeom prst="rect">
            <a:avLst/>
          </a:prstGeom>
        </p:spPr>
      </p:pic>
    </p:spTree>
    <p:extLst>
      <p:ext uri="{BB962C8B-B14F-4D97-AF65-F5344CB8AC3E}">
        <p14:creationId xmlns:p14="http://schemas.microsoft.com/office/powerpoint/2010/main" val="34052827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emf"/><Relationship Id="rId4" Type="http://schemas.openxmlformats.org/officeDocument/2006/relationships/image" Target="../media/image5.png"/><Relationship Id="rId9" Type="http://schemas.openxmlformats.org/officeDocument/2006/relationships/image" Target="../media/image1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898048" y="3624089"/>
            <a:ext cx="20421877" cy="923330"/>
          </a:xfrm>
          <a:prstGeom prst="rect">
            <a:avLst/>
          </a:prstGeom>
          <a:noFill/>
        </p:spPr>
        <p:txBody>
          <a:bodyPr wrap="square" rtlCol="0">
            <a:spAutoFit/>
          </a:bodyPr>
          <a:lstStyle/>
          <a:p>
            <a:pPr algn="ctr"/>
            <a:r>
              <a:rPr lang="tr-TR" sz="5400" b="1" dirty="0" err="1">
                <a:latin typeface="Arial" panose="020B0604020202020204" pitchFamily="34" charset="0"/>
                <a:cs typeface="Arial" panose="020B0604020202020204" pitchFamily="34" charset="0"/>
              </a:rPr>
              <a:t>Fluxgate</a:t>
            </a:r>
            <a:r>
              <a:rPr lang="tr-TR" sz="5400" b="1" dirty="0">
                <a:latin typeface="Arial" panose="020B0604020202020204" pitchFamily="34" charset="0"/>
                <a:cs typeface="Arial" panose="020B0604020202020204" pitchFamily="34" charset="0"/>
              </a:rPr>
              <a:t> </a:t>
            </a:r>
            <a:r>
              <a:rPr lang="tr-TR" sz="5400" b="1">
                <a:latin typeface="Arial" panose="020B0604020202020204" pitchFamily="34" charset="0"/>
                <a:cs typeface="Arial" panose="020B0604020202020204" pitchFamily="34" charset="0"/>
              </a:rPr>
              <a:t>Tipi Manyetik Alan Sensörü </a:t>
            </a:r>
            <a:r>
              <a:rPr lang="tr-TR" sz="5400" b="1" dirty="0">
                <a:latin typeface="Arial" panose="020B0604020202020204" pitchFamily="34" charset="0"/>
                <a:cs typeface="Arial" panose="020B0604020202020204" pitchFamily="34" charset="0"/>
              </a:rPr>
              <a:t>Tasarımı</a:t>
            </a:r>
            <a:endParaRPr lang="en-CA" sz="5400" b="1" dirty="0">
              <a:latin typeface="Arial" panose="020B0604020202020204" pitchFamily="34" charset="0"/>
              <a:cs typeface="Arial" panose="020B0604020202020204" pitchFamily="34" charset="0"/>
            </a:endParaRPr>
          </a:p>
        </p:txBody>
      </p:sp>
      <p:sp>
        <p:nvSpPr>
          <p:cNvPr id="7" name="Metin kutusu 6"/>
          <p:cNvSpPr txBox="1"/>
          <p:nvPr/>
        </p:nvSpPr>
        <p:spPr>
          <a:xfrm>
            <a:off x="6184686" y="4877706"/>
            <a:ext cx="4924301" cy="830997"/>
          </a:xfrm>
          <a:prstGeom prst="rect">
            <a:avLst/>
          </a:prstGeom>
          <a:noFill/>
        </p:spPr>
        <p:txBody>
          <a:bodyPr wrap="square" rtlCol="0">
            <a:spAutoFit/>
          </a:bodyPr>
          <a:lstStyle/>
          <a:p>
            <a:pPr algn="ctr"/>
            <a:r>
              <a:rPr lang="tr-TR" sz="2400" b="1" baseline="0" dirty="0">
                <a:latin typeface="Arial" panose="020B0604020202020204" pitchFamily="34" charset="0"/>
                <a:cs typeface="Arial" panose="020B0604020202020204" pitchFamily="34" charset="0"/>
              </a:rPr>
              <a:t>Erdem METİN</a:t>
            </a:r>
          </a:p>
          <a:p>
            <a:pPr algn="ctr"/>
            <a:r>
              <a:rPr lang="tr-TR" sz="2400" b="1" dirty="0">
                <a:latin typeface="Arial" panose="020B0604020202020204" pitchFamily="34" charset="0"/>
                <a:cs typeface="Arial" panose="020B0604020202020204" pitchFamily="34" charset="0"/>
              </a:rPr>
              <a:t>e</a:t>
            </a:r>
            <a:r>
              <a:rPr lang="tr-TR" sz="2400" b="1" baseline="0" dirty="0">
                <a:latin typeface="Arial" panose="020B0604020202020204" pitchFamily="34" charset="0"/>
                <a:cs typeface="Arial" panose="020B0604020202020204" pitchFamily="34" charset="0"/>
              </a:rPr>
              <a:t>rdem-metin@windowslive.com</a:t>
            </a:r>
            <a:endParaRPr lang="en-CA" sz="2400" b="1" dirty="0">
              <a:latin typeface="Arial" panose="020B0604020202020204" pitchFamily="34" charset="0"/>
              <a:cs typeface="Arial" panose="020B0604020202020204" pitchFamily="34" charset="0"/>
            </a:endParaRPr>
          </a:p>
        </p:txBody>
      </p:sp>
      <p:sp>
        <p:nvSpPr>
          <p:cNvPr id="8" name="Metin kutusu 7"/>
          <p:cNvSpPr txBox="1"/>
          <p:nvPr/>
        </p:nvSpPr>
        <p:spPr>
          <a:xfrm>
            <a:off x="11108987" y="4862207"/>
            <a:ext cx="4924301" cy="830997"/>
          </a:xfrm>
          <a:prstGeom prst="rect">
            <a:avLst/>
          </a:prstGeom>
          <a:noFill/>
        </p:spPr>
        <p:txBody>
          <a:bodyPr wrap="square" rtlCol="0">
            <a:spAutoFit/>
          </a:bodyPr>
          <a:lstStyle/>
          <a:p>
            <a:pPr algn="ctr"/>
            <a:r>
              <a:rPr lang="tr-TR" sz="2400" b="1" baseline="0" dirty="0">
                <a:latin typeface="Arial" panose="020B0604020202020204" pitchFamily="34" charset="0"/>
                <a:cs typeface="Arial" panose="020B0604020202020204" pitchFamily="34" charset="0"/>
              </a:rPr>
              <a:t>Mücahit ATA</a:t>
            </a:r>
          </a:p>
          <a:p>
            <a:pPr algn="ctr"/>
            <a:r>
              <a:rPr lang="tr-TR" sz="2400" b="1" dirty="0">
                <a:latin typeface="Arial" panose="020B0604020202020204" pitchFamily="34" charset="0"/>
                <a:cs typeface="Arial" panose="020B0604020202020204" pitchFamily="34" charset="0"/>
              </a:rPr>
              <a:t>6934muco@gmail.com</a:t>
            </a:r>
            <a:endParaRPr lang="en-CA" sz="2400" b="1" dirty="0">
              <a:latin typeface="Arial" panose="020B0604020202020204" pitchFamily="34" charset="0"/>
              <a:cs typeface="Arial" panose="020B0604020202020204" pitchFamily="34" charset="0"/>
            </a:endParaRPr>
          </a:p>
        </p:txBody>
      </p:sp>
      <p:sp>
        <p:nvSpPr>
          <p:cNvPr id="10" name="Metin kutusu 9"/>
          <p:cNvSpPr txBox="1"/>
          <p:nvPr/>
        </p:nvSpPr>
        <p:spPr>
          <a:xfrm>
            <a:off x="5236981" y="6322780"/>
            <a:ext cx="12136619" cy="830997"/>
          </a:xfrm>
          <a:prstGeom prst="rect">
            <a:avLst/>
          </a:prstGeom>
          <a:noFill/>
        </p:spPr>
        <p:txBody>
          <a:bodyPr wrap="square" rtlCol="0">
            <a:spAutoFit/>
          </a:bodyPr>
          <a:lstStyle/>
          <a:p>
            <a:pPr algn="ctr"/>
            <a:r>
              <a:rPr lang="tr-TR" sz="2400" b="1" dirty="0">
                <a:latin typeface="Arial" panose="020B0604020202020204" pitchFamily="34" charset="0"/>
                <a:cs typeface="Arial" panose="020B0604020202020204" pitchFamily="34" charset="0"/>
              </a:rPr>
              <a:t>Proje Danışmanı : </a:t>
            </a:r>
            <a:r>
              <a:rPr lang="tr-TR" sz="2400" b="1" dirty="0" err="1">
                <a:latin typeface="Arial" panose="020B0604020202020204" pitchFamily="34" charset="0"/>
                <a:cs typeface="Arial" panose="020B0604020202020204" pitchFamily="34" charset="0"/>
              </a:rPr>
              <a:t>Prof.Dr</a:t>
            </a:r>
            <a:r>
              <a:rPr lang="tr-TR" sz="2400" b="1">
                <a:latin typeface="Arial" panose="020B0604020202020204" pitchFamily="34" charset="0"/>
                <a:cs typeface="Arial" panose="020B0604020202020204" pitchFamily="34" charset="0"/>
              </a:rPr>
              <a:t>. İsmail </a:t>
            </a:r>
            <a:r>
              <a:rPr lang="tr-TR" sz="2400" b="1" dirty="0">
                <a:latin typeface="Arial" panose="020B0604020202020204" pitchFamily="34" charset="0"/>
                <a:cs typeface="Arial" panose="020B0604020202020204" pitchFamily="34" charset="0"/>
              </a:rPr>
              <a:t>KAYA</a:t>
            </a:r>
            <a:endParaRPr lang="tr-TR" sz="2400" b="1" baseline="0" dirty="0">
              <a:latin typeface="Arial" panose="020B0604020202020204" pitchFamily="34" charset="0"/>
              <a:cs typeface="Arial" panose="020B0604020202020204" pitchFamily="34" charset="0"/>
            </a:endParaRPr>
          </a:p>
          <a:p>
            <a:pPr algn="ctr"/>
            <a:r>
              <a:rPr lang="tr-TR" sz="2400" b="1" baseline="0" dirty="0">
                <a:latin typeface="Arial" panose="020B0604020202020204" pitchFamily="34" charset="0"/>
                <a:cs typeface="Arial" panose="020B0604020202020204" pitchFamily="34" charset="0"/>
              </a:rPr>
              <a:t>ikaya@ktu.edu.tr</a:t>
            </a:r>
            <a:endParaRPr lang="en-CA" sz="2400" b="1" dirty="0">
              <a:latin typeface="Arial" panose="020B0604020202020204" pitchFamily="34" charset="0"/>
              <a:cs typeface="Arial" panose="020B0604020202020204" pitchFamily="34" charset="0"/>
            </a:endParaRPr>
          </a:p>
        </p:txBody>
      </p:sp>
      <p:sp>
        <p:nvSpPr>
          <p:cNvPr id="4" name="Dikdörtgen 3">
            <a:extLst>
              <a:ext uri="{FF2B5EF4-FFF2-40B4-BE49-F238E27FC236}">
                <a16:creationId xmlns:a16="http://schemas.microsoft.com/office/drawing/2014/main" id="{D80836B7-8DF2-282C-917F-08861B29FAED}"/>
              </a:ext>
            </a:extLst>
          </p:cNvPr>
          <p:cNvSpPr/>
          <p:nvPr/>
        </p:nvSpPr>
        <p:spPr>
          <a:xfrm>
            <a:off x="5041881" y="7703640"/>
            <a:ext cx="1495795" cy="923330"/>
          </a:xfrm>
          <a:prstGeom prst="rect">
            <a:avLst/>
          </a:prstGeom>
          <a:noFill/>
        </p:spPr>
        <p:txBody>
          <a:bodyPr wrap="none" lIns="91440" tIns="45720" rIns="91440" bIns="45720">
            <a:spAutoFit/>
          </a:bodyPr>
          <a:lstStyle/>
          <a:p>
            <a:pPr algn="ctr"/>
            <a:r>
              <a:rPr lang="tr-TR" sz="5400" b="1" cap="none" spc="0" dirty="0">
                <a:ln w="12700">
                  <a:solidFill>
                    <a:schemeClr val="tx2">
                      <a:lumMod val="75000"/>
                    </a:schemeClr>
                  </a:solidFill>
                  <a:prstDash val="solid"/>
                </a:ln>
                <a:solidFill>
                  <a:schemeClr val="accent1"/>
                </a:solidFill>
                <a:effectLst>
                  <a:innerShdw blurRad="63500" dist="50800" dir="13500000">
                    <a:prstClr val="black">
                      <a:alpha val="50000"/>
                    </a:prstClr>
                  </a:innerShdw>
                </a:effectLst>
              </a:rPr>
              <a:t>Özet</a:t>
            </a:r>
          </a:p>
        </p:txBody>
      </p:sp>
      <p:sp>
        <p:nvSpPr>
          <p:cNvPr id="12" name="Dikdörtgen 11">
            <a:extLst>
              <a:ext uri="{FF2B5EF4-FFF2-40B4-BE49-F238E27FC236}">
                <a16:creationId xmlns:a16="http://schemas.microsoft.com/office/drawing/2014/main" id="{75C6AC3A-39EB-36B6-F092-170C618293D9}"/>
              </a:ext>
            </a:extLst>
          </p:cNvPr>
          <p:cNvSpPr/>
          <p:nvPr/>
        </p:nvSpPr>
        <p:spPr>
          <a:xfrm>
            <a:off x="15200265" y="7455568"/>
            <a:ext cx="1487908" cy="923330"/>
          </a:xfrm>
          <a:prstGeom prst="rect">
            <a:avLst/>
          </a:prstGeom>
          <a:noFill/>
        </p:spPr>
        <p:txBody>
          <a:bodyPr wrap="none" lIns="91440" tIns="45720" rIns="91440" bIns="45720">
            <a:spAutoFit/>
          </a:bodyPr>
          <a:lstStyle/>
          <a:p>
            <a:pPr algn="ctr"/>
            <a:r>
              <a:rPr lang="tr-TR" sz="5400" b="1" cap="none" spc="0" dirty="0">
                <a:ln w="12700">
                  <a:solidFill>
                    <a:schemeClr val="tx2">
                      <a:lumMod val="75000"/>
                    </a:schemeClr>
                  </a:solidFill>
                  <a:prstDash val="solid"/>
                </a:ln>
                <a:solidFill>
                  <a:srgbClr val="FFFF00"/>
                </a:solidFill>
                <a:effectLst>
                  <a:innerShdw blurRad="63500" dist="50800" dir="13500000">
                    <a:prstClr val="black">
                      <a:alpha val="50000"/>
                    </a:prstClr>
                  </a:innerShdw>
                </a:effectLst>
              </a:rPr>
              <a:t>Giriş</a:t>
            </a:r>
          </a:p>
        </p:txBody>
      </p:sp>
      <p:sp>
        <p:nvSpPr>
          <p:cNvPr id="19" name="Dikdörtgen 18">
            <a:extLst>
              <a:ext uri="{FF2B5EF4-FFF2-40B4-BE49-F238E27FC236}">
                <a16:creationId xmlns:a16="http://schemas.microsoft.com/office/drawing/2014/main" id="{13B401F2-EE7C-8A4D-C26E-73EF4D56F8EA}"/>
              </a:ext>
            </a:extLst>
          </p:cNvPr>
          <p:cNvSpPr/>
          <p:nvPr/>
        </p:nvSpPr>
        <p:spPr>
          <a:xfrm>
            <a:off x="4956023" y="12047607"/>
            <a:ext cx="1667509" cy="923330"/>
          </a:xfrm>
          <a:prstGeom prst="rect">
            <a:avLst/>
          </a:prstGeom>
          <a:noFill/>
        </p:spPr>
        <p:txBody>
          <a:bodyPr wrap="none" lIns="91440" tIns="45720" rIns="91440" bIns="45720">
            <a:spAutoFit/>
          </a:bodyPr>
          <a:lstStyle/>
          <a:p>
            <a:pPr algn="ctr"/>
            <a:r>
              <a:rPr lang="tr-TR" sz="5400" b="1" dirty="0">
                <a:ln w="12700">
                  <a:solidFill>
                    <a:schemeClr val="tx2">
                      <a:lumMod val="75000"/>
                    </a:schemeClr>
                  </a:solidFill>
                  <a:prstDash val="solid"/>
                </a:ln>
                <a:solidFill>
                  <a:schemeClr val="tx1">
                    <a:lumMod val="50000"/>
                    <a:lumOff val="50000"/>
                  </a:schemeClr>
                </a:solidFill>
                <a:effectLst>
                  <a:innerShdw blurRad="63500" dist="50800" dir="13500000">
                    <a:prstClr val="black">
                      <a:alpha val="50000"/>
                    </a:prstClr>
                  </a:innerShdw>
                </a:effectLst>
              </a:rPr>
              <a:t>Konu</a:t>
            </a:r>
            <a:endParaRPr lang="tr-TR" sz="5400" b="1" cap="none" spc="0" dirty="0">
              <a:ln w="12700">
                <a:solidFill>
                  <a:schemeClr val="tx2">
                    <a:lumMod val="75000"/>
                  </a:schemeClr>
                </a:solidFill>
                <a:prstDash val="solid"/>
              </a:ln>
              <a:solidFill>
                <a:schemeClr val="tx1">
                  <a:lumMod val="50000"/>
                  <a:lumOff val="50000"/>
                </a:schemeClr>
              </a:solidFill>
              <a:effectLst>
                <a:innerShdw blurRad="63500" dist="50800" dir="13500000">
                  <a:prstClr val="black">
                    <a:alpha val="50000"/>
                  </a:prstClr>
                </a:innerShdw>
              </a:effectLst>
            </a:endParaRPr>
          </a:p>
        </p:txBody>
      </p:sp>
      <p:sp>
        <p:nvSpPr>
          <p:cNvPr id="20" name="Dikdörtgen 19">
            <a:extLst>
              <a:ext uri="{FF2B5EF4-FFF2-40B4-BE49-F238E27FC236}">
                <a16:creationId xmlns:a16="http://schemas.microsoft.com/office/drawing/2014/main" id="{B6D8B3A4-B3E5-1527-5B77-418235D3DD69}"/>
              </a:ext>
            </a:extLst>
          </p:cNvPr>
          <p:cNvSpPr/>
          <p:nvPr/>
        </p:nvSpPr>
        <p:spPr>
          <a:xfrm>
            <a:off x="15093625" y="15880082"/>
            <a:ext cx="2413353" cy="923330"/>
          </a:xfrm>
          <a:prstGeom prst="rect">
            <a:avLst/>
          </a:prstGeom>
          <a:noFill/>
        </p:spPr>
        <p:txBody>
          <a:bodyPr wrap="none" lIns="91440" tIns="45720" rIns="91440" bIns="45720">
            <a:spAutoFit/>
          </a:bodyPr>
          <a:lstStyle/>
          <a:p>
            <a:pPr algn="ctr"/>
            <a:r>
              <a:rPr lang="tr-TR" sz="5400" b="1" dirty="0">
                <a:ln w="12700">
                  <a:solidFill>
                    <a:schemeClr val="tx2">
                      <a:lumMod val="75000"/>
                    </a:schemeClr>
                  </a:solidFill>
                  <a:prstDash val="solid"/>
                </a:ln>
                <a:solidFill>
                  <a:schemeClr val="accent6"/>
                </a:solidFill>
                <a:effectLst>
                  <a:innerShdw blurRad="63500" dist="50800" dir="13500000">
                    <a:prstClr val="black">
                      <a:alpha val="50000"/>
                    </a:prstClr>
                  </a:innerShdw>
                </a:effectLst>
              </a:rPr>
              <a:t>Tasarım</a:t>
            </a:r>
            <a:endParaRPr lang="tr-TR" sz="5400" b="1" cap="none" spc="0" dirty="0">
              <a:ln w="12700">
                <a:solidFill>
                  <a:schemeClr val="tx2">
                    <a:lumMod val="75000"/>
                  </a:schemeClr>
                </a:solidFill>
                <a:prstDash val="solid"/>
              </a:ln>
              <a:solidFill>
                <a:schemeClr val="accent6"/>
              </a:solidFill>
              <a:effectLst>
                <a:innerShdw blurRad="63500" dist="50800" dir="13500000">
                  <a:prstClr val="black">
                    <a:alpha val="50000"/>
                  </a:prstClr>
                </a:innerShdw>
              </a:effectLst>
            </a:endParaRPr>
          </a:p>
        </p:txBody>
      </p:sp>
      <p:sp>
        <p:nvSpPr>
          <p:cNvPr id="21" name="Dikdörtgen 20">
            <a:extLst>
              <a:ext uri="{FF2B5EF4-FFF2-40B4-BE49-F238E27FC236}">
                <a16:creationId xmlns:a16="http://schemas.microsoft.com/office/drawing/2014/main" id="{60A85B73-2130-1567-6A5F-9105C22A2E0C}"/>
              </a:ext>
            </a:extLst>
          </p:cNvPr>
          <p:cNvSpPr/>
          <p:nvPr/>
        </p:nvSpPr>
        <p:spPr>
          <a:xfrm>
            <a:off x="1412314" y="18352134"/>
            <a:ext cx="9036834" cy="923330"/>
          </a:xfrm>
          <a:prstGeom prst="rect">
            <a:avLst/>
          </a:prstGeom>
          <a:noFill/>
        </p:spPr>
        <p:txBody>
          <a:bodyPr wrap="none" lIns="91440" tIns="45720" rIns="91440" bIns="45720">
            <a:spAutoFit/>
          </a:bodyPr>
          <a:lstStyle/>
          <a:p>
            <a:pPr algn="ctr"/>
            <a:r>
              <a:rPr lang="tr-TR" sz="5400" b="1" cap="none" spc="0" dirty="0">
                <a:ln w="12700">
                  <a:solidFill>
                    <a:schemeClr val="tx2">
                      <a:lumMod val="75000"/>
                    </a:schemeClr>
                  </a:solidFill>
                  <a:prstDash val="solid"/>
                </a:ln>
                <a:solidFill>
                  <a:schemeClr val="accent6"/>
                </a:solidFill>
                <a:effectLst>
                  <a:innerShdw blurRad="63500" dist="50800" dir="13500000">
                    <a:prstClr val="black">
                      <a:alpha val="50000"/>
                    </a:prstClr>
                  </a:innerShdw>
                </a:effectLst>
              </a:rPr>
              <a:t>Deneysel bağlantı diyagramları</a:t>
            </a:r>
          </a:p>
        </p:txBody>
      </p:sp>
      <p:sp>
        <p:nvSpPr>
          <p:cNvPr id="22" name="Dikdörtgen 21">
            <a:extLst>
              <a:ext uri="{FF2B5EF4-FFF2-40B4-BE49-F238E27FC236}">
                <a16:creationId xmlns:a16="http://schemas.microsoft.com/office/drawing/2014/main" id="{2B1C88DF-3549-C0AF-4766-D145FC25754D}"/>
              </a:ext>
            </a:extLst>
          </p:cNvPr>
          <p:cNvSpPr/>
          <p:nvPr/>
        </p:nvSpPr>
        <p:spPr>
          <a:xfrm>
            <a:off x="13162392" y="20944626"/>
            <a:ext cx="6275821" cy="923330"/>
          </a:xfrm>
          <a:prstGeom prst="rect">
            <a:avLst/>
          </a:prstGeom>
          <a:noFill/>
        </p:spPr>
        <p:txBody>
          <a:bodyPr wrap="none" lIns="91440" tIns="45720" rIns="91440" bIns="45720">
            <a:spAutoFit/>
          </a:bodyPr>
          <a:lstStyle/>
          <a:p>
            <a:pPr algn="ctr"/>
            <a:r>
              <a:rPr lang="tr-TR" sz="5400" b="1" dirty="0">
                <a:ln w="12700">
                  <a:solidFill>
                    <a:schemeClr val="tx2">
                      <a:lumMod val="75000"/>
                    </a:schemeClr>
                  </a:solidFill>
                  <a:prstDash val="solid"/>
                </a:ln>
                <a:pattFill prst="dkUpDiag">
                  <a:fgClr>
                    <a:schemeClr val="tx2"/>
                  </a:fgClr>
                  <a:bgClr>
                    <a:schemeClr val="tx2">
                      <a:lumMod val="20000"/>
                      <a:lumOff val="80000"/>
                    </a:schemeClr>
                  </a:bgClr>
                </a:pattFill>
                <a:effectLst>
                  <a:innerShdw blurRad="63500" dist="50800" dir="13500000">
                    <a:prstClr val="black">
                      <a:alpha val="50000"/>
                    </a:prstClr>
                  </a:innerShdw>
                </a:effectLst>
              </a:rPr>
              <a:t>Simülasyon Sonuçları</a:t>
            </a:r>
            <a:endParaRPr lang="tr-TR"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innerShdw blurRad="63500" dist="50800" dir="13500000">
                  <a:prstClr val="black">
                    <a:alpha val="50000"/>
                  </a:prstClr>
                </a:innerShdw>
              </a:effectLst>
            </a:endParaRPr>
          </a:p>
        </p:txBody>
      </p:sp>
      <p:sp>
        <p:nvSpPr>
          <p:cNvPr id="23" name="Dikdörtgen 22">
            <a:extLst>
              <a:ext uri="{FF2B5EF4-FFF2-40B4-BE49-F238E27FC236}">
                <a16:creationId xmlns:a16="http://schemas.microsoft.com/office/drawing/2014/main" id="{921BA4B1-BA9C-3998-938C-F321CB858C03}"/>
              </a:ext>
            </a:extLst>
          </p:cNvPr>
          <p:cNvSpPr/>
          <p:nvPr/>
        </p:nvSpPr>
        <p:spPr>
          <a:xfrm>
            <a:off x="8813676" y="25512392"/>
            <a:ext cx="4473276" cy="923330"/>
          </a:xfrm>
          <a:prstGeom prst="rect">
            <a:avLst/>
          </a:prstGeom>
          <a:noFill/>
        </p:spPr>
        <p:txBody>
          <a:bodyPr wrap="none" lIns="91440" tIns="45720" rIns="91440" bIns="45720">
            <a:spAutoFit/>
          </a:bodyPr>
          <a:lstStyle/>
          <a:p>
            <a:pPr algn="ctr"/>
            <a:r>
              <a:rPr lang="tr-TR"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Değerlendirme</a:t>
            </a:r>
          </a:p>
        </p:txBody>
      </p:sp>
      <p:sp>
        <p:nvSpPr>
          <p:cNvPr id="35" name="Dikdörtgen: Köşeleri Yuvarlatılmış 34">
            <a:extLst>
              <a:ext uri="{FF2B5EF4-FFF2-40B4-BE49-F238E27FC236}">
                <a16:creationId xmlns:a16="http://schemas.microsoft.com/office/drawing/2014/main" id="{090CA953-9251-C28D-7F9C-886EC5327C0D}"/>
              </a:ext>
            </a:extLst>
          </p:cNvPr>
          <p:cNvSpPr/>
          <p:nvPr/>
        </p:nvSpPr>
        <p:spPr>
          <a:xfrm>
            <a:off x="997387" y="12801447"/>
            <a:ext cx="9872190" cy="5322359"/>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tr-TR" dirty="0"/>
          </a:p>
        </p:txBody>
      </p:sp>
      <p:sp>
        <p:nvSpPr>
          <p:cNvPr id="37" name="Dikdörtgen: Köşeleri Yuvarlatılmış 36">
            <a:extLst>
              <a:ext uri="{FF2B5EF4-FFF2-40B4-BE49-F238E27FC236}">
                <a16:creationId xmlns:a16="http://schemas.microsoft.com/office/drawing/2014/main" id="{CE14E51A-C28A-E6CA-BB01-8B3822514C03}"/>
              </a:ext>
            </a:extLst>
          </p:cNvPr>
          <p:cNvSpPr/>
          <p:nvPr/>
        </p:nvSpPr>
        <p:spPr>
          <a:xfrm>
            <a:off x="1249414" y="8429585"/>
            <a:ext cx="9080725" cy="3592246"/>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38" name="Dikdörtgen: Köşeleri Yuvarlatılmış 37">
            <a:extLst>
              <a:ext uri="{FF2B5EF4-FFF2-40B4-BE49-F238E27FC236}">
                <a16:creationId xmlns:a16="http://schemas.microsoft.com/office/drawing/2014/main" id="{58E7A447-0E11-8559-18BF-E2DD48A36AFD}"/>
              </a:ext>
            </a:extLst>
          </p:cNvPr>
          <p:cNvSpPr/>
          <p:nvPr/>
        </p:nvSpPr>
        <p:spPr>
          <a:xfrm>
            <a:off x="11085831" y="8203074"/>
            <a:ext cx="9291725" cy="7741535"/>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pic>
        <p:nvPicPr>
          <p:cNvPr id="17" name="Resim 16" descr="elektronik donanım, devre, elektronik mühendisliği, elektronik bileşen içeren bir resim&#10;&#10;Açıklama otomatik olarak oluşturuldu">
            <a:extLst>
              <a:ext uri="{FF2B5EF4-FFF2-40B4-BE49-F238E27FC236}">
                <a16:creationId xmlns:a16="http://schemas.microsoft.com/office/drawing/2014/main" id="{AC2BB967-6FDE-7688-E4A5-246362EAD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4716" y="12130335"/>
            <a:ext cx="3703016" cy="3827992"/>
          </a:xfrm>
          <a:prstGeom prst="rect">
            <a:avLst/>
          </a:prstGeom>
        </p:spPr>
      </p:pic>
      <p:pic>
        <p:nvPicPr>
          <p:cNvPr id="25" name="Resim 24" descr="elektronik donanım, elektronik mühendisliği, Elektrik kabloları, devre bileşeni içeren bir resim&#10;&#10;Açıklama otomatik olarak oluşturuldu">
            <a:extLst>
              <a:ext uri="{FF2B5EF4-FFF2-40B4-BE49-F238E27FC236}">
                <a16:creationId xmlns:a16="http://schemas.microsoft.com/office/drawing/2014/main" id="{DFAB1AA5-6A12-F73E-AD23-404B30D31D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97476" y="12810604"/>
            <a:ext cx="4121790" cy="2544830"/>
          </a:xfrm>
          <a:prstGeom prst="rect">
            <a:avLst/>
          </a:prstGeom>
        </p:spPr>
      </p:pic>
      <p:sp>
        <p:nvSpPr>
          <p:cNvPr id="41" name="Dikdörtgen: Köşeleri Yuvarlatılmış 40">
            <a:extLst>
              <a:ext uri="{FF2B5EF4-FFF2-40B4-BE49-F238E27FC236}">
                <a16:creationId xmlns:a16="http://schemas.microsoft.com/office/drawing/2014/main" id="{9E2B00C0-4409-47F4-A629-B8CD2C9750CC}"/>
              </a:ext>
            </a:extLst>
          </p:cNvPr>
          <p:cNvSpPr/>
          <p:nvPr/>
        </p:nvSpPr>
        <p:spPr>
          <a:xfrm>
            <a:off x="12593255" y="16585941"/>
            <a:ext cx="8726670" cy="4344967"/>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42" name="Dikdörtgen: Köşeleri Yuvarlatılmış 41">
            <a:extLst>
              <a:ext uri="{FF2B5EF4-FFF2-40B4-BE49-F238E27FC236}">
                <a16:creationId xmlns:a16="http://schemas.microsoft.com/office/drawing/2014/main" id="{0F34C242-D1DC-C2A3-9076-B0E721CB1C5C}"/>
              </a:ext>
            </a:extLst>
          </p:cNvPr>
          <p:cNvSpPr/>
          <p:nvPr/>
        </p:nvSpPr>
        <p:spPr>
          <a:xfrm>
            <a:off x="1045731" y="26646504"/>
            <a:ext cx="19903006" cy="1870802"/>
          </a:xfrm>
          <a:prstGeom prst="roundRect">
            <a:avLst/>
          </a:prstGeom>
          <a:ln>
            <a:noFill/>
          </a:ln>
        </p:spPr>
        <p:style>
          <a:lnRef idx="0">
            <a:scrgbClr r="0" g="0" b="0"/>
          </a:lnRef>
          <a:fillRef idx="1003">
            <a:schemeClr val="lt1"/>
          </a:fillRef>
          <a:effectRef idx="0">
            <a:scrgbClr r="0" g="0" b="0"/>
          </a:effectRef>
          <a:fontRef idx="minor">
            <a:schemeClr val="lt1"/>
          </a:fontRef>
        </p:style>
        <p:txBody>
          <a:bodyPr rtlCol="0" anchor="ctr"/>
          <a:lstStyle/>
          <a:p>
            <a:pPr algn="ctr"/>
            <a:endParaRPr lang="tr-TR"/>
          </a:p>
        </p:txBody>
      </p:sp>
      <p:sp>
        <p:nvSpPr>
          <p:cNvPr id="26" name="Metin kutusu 25">
            <a:extLst>
              <a:ext uri="{FF2B5EF4-FFF2-40B4-BE49-F238E27FC236}">
                <a16:creationId xmlns:a16="http://schemas.microsoft.com/office/drawing/2014/main" id="{15A3E73C-0843-2966-439C-E34C6A76CE3B}"/>
              </a:ext>
            </a:extLst>
          </p:cNvPr>
          <p:cNvSpPr txBox="1"/>
          <p:nvPr/>
        </p:nvSpPr>
        <p:spPr>
          <a:xfrm>
            <a:off x="1328508" y="26800999"/>
            <a:ext cx="19443612" cy="1569660"/>
          </a:xfrm>
          <a:prstGeom prst="rect">
            <a:avLst/>
          </a:prstGeom>
          <a:noFill/>
        </p:spPr>
        <p:txBody>
          <a:bodyPr wrap="square" rtlCol="0">
            <a:spAutoFit/>
          </a:bodyPr>
          <a:lstStyle/>
          <a:p>
            <a:r>
              <a:rPr lang="tr-TR" sz="2400" dirty="0"/>
              <a:t>Yapılan proje sayesinde çok çeşitli </a:t>
            </a:r>
            <a:r>
              <a:rPr lang="tr-TR" sz="2400" dirty="0" err="1"/>
              <a:t>Fluxgate</a:t>
            </a:r>
            <a:r>
              <a:rPr lang="tr-TR" sz="2400" dirty="0"/>
              <a:t> tipi manyetometrelerin geliştirilebilmesinin önü açılmış, yapılabilecek ileri çalışmalar sayesinde özel kullanım alanlarına yönelik sensörler geliştirilebilir.  Üretilen </a:t>
            </a:r>
            <a:r>
              <a:rPr lang="tr-TR" sz="2400" dirty="0" err="1"/>
              <a:t>Fluxgate</a:t>
            </a:r>
            <a:r>
              <a:rPr lang="tr-TR" sz="2400" dirty="0"/>
              <a:t> sensöründe nüve, ADC ve sinyal işleme tekniği gibi konular geliştirilmeye açık olup elde edilen mevcut hassasiyetle basit bir pusula uyarlaması yapmak mümkün olmuştur. Elde edilen sensörün kalibrasyonu, tasarlanan 6-81 </a:t>
            </a:r>
            <a:r>
              <a:rPr lang="tr-TR" sz="2400" dirty="0" err="1"/>
              <a:t>Permalloy</a:t>
            </a:r>
            <a:r>
              <a:rPr lang="tr-TR" sz="2400" dirty="0"/>
              <a:t> malzeme bazlı bir nüvenin üretimi gibi aşamaların ilerletilmesi ile proje hedefi olan 1pT gürültü oranına ulaşılması mümkün olabilir. </a:t>
            </a:r>
          </a:p>
        </p:txBody>
      </p:sp>
      <p:sp>
        <p:nvSpPr>
          <p:cNvPr id="11" name="Metin kutusu 10">
            <a:extLst>
              <a:ext uri="{FF2B5EF4-FFF2-40B4-BE49-F238E27FC236}">
                <a16:creationId xmlns:a16="http://schemas.microsoft.com/office/drawing/2014/main" id="{9EF46694-25B1-BA8E-5333-B39386FDEA16}"/>
              </a:ext>
            </a:extLst>
          </p:cNvPr>
          <p:cNvSpPr txBox="1"/>
          <p:nvPr/>
        </p:nvSpPr>
        <p:spPr>
          <a:xfrm>
            <a:off x="1605810" y="8759278"/>
            <a:ext cx="8724329" cy="2677656"/>
          </a:xfrm>
          <a:prstGeom prst="rect">
            <a:avLst/>
          </a:prstGeom>
          <a:noFill/>
        </p:spPr>
        <p:txBody>
          <a:bodyPr wrap="square" rtlCol="0">
            <a:spAutoFit/>
          </a:bodyPr>
          <a:lstStyle/>
          <a:p>
            <a:r>
              <a:rPr lang="tr-TR" sz="2400" dirty="0"/>
              <a:t>Çözünürlük, ölçüm aralığı, kompakt boyutları gibi özellikleri yönünden Fluxgate tipi manyetik alan sensörleri bir üstünlüğe sahiptir. Bu projede de bir Fluxgate sensörü üretilmiş ve klasik yöntemlerin dışında sayısal sinyal işleme teknikleriyle beraber 24 bit çözünürlüğe sahip sensör verisi elde edilmeye çalışılmıştır. Bunların yanı sıra </a:t>
            </a:r>
            <a:r>
              <a:rPr lang="tr-TR" sz="2400" dirty="0" err="1"/>
              <a:t>Fluxgate</a:t>
            </a:r>
            <a:r>
              <a:rPr lang="tr-TR" sz="2400" dirty="0"/>
              <a:t> nüvesi, sinyalin analog olarak işlenmesi, alınan verinin kablosuz olarak gönderilmesi gibi konulara da odaklanılmıştır</a:t>
            </a:r>
          </a:p>
        </p:txBody>
      </p:sp>
      <p:sp>
        <p:nvSpPr>
          <p:cNvPr id="13" name="Metin kutusu 12">
            <a:extLst>
              <a:ext uri="{FF2B5EF4-FFF2-40B4-BE49-F238E27FC236}">
                <a16:creationId xmlns:a16="http://schemas.microsoft.com/office/drawing/2014/main" id="{D2D56078-9DA4-F55E-5DED-DC521D38EBA7}"/>
              </a:ext>
            </a:extLst>
          </p:cNvPr>
          <p:cNvSpPr txBox="1"/>
          <p:nvPr/>
        </p:nvSpPr>
        <p:spPr>
          <a:xfrm>
            <a:off x="11287760" y="8648510"/>
            <a:ext cx="9024511" cy="3416320"/>
          </a:xfrm>
          <a:prstGeom prst="rect">
            <a:avLst/>
          </a:prstGeom>
          <a:noFill/>
        </p:spPr>
        <p:txBody>
          <a:bodyPr wrap="square" rtlCol="0">
            <a:spAutoFit/>
          </a:bodyPr>
          <a:lstStyle/>
          <a:p>
            <a:r>
              <a:rPr lang="tr-TR" sz="2400" dirty="0"/>
              <a:t>Analog bazlı sinyal işleme tekniklerinde birçok faktörden dolayı ulaşılabilecek çözünürlük ve gürültü seviyeleri sınırlanmaktadır. Bu probleme karşın, sensör verisi sayısal olarak işlenirse daha üstün bir performans elde edilmesi mümkün olabilir. Nüve tasarımı ve nüve malzemesinde yapılacak geliştirmelerle beraber çok hassas manyetik akı yoğunluğu ölçümleri mümkün hale gelecektir. Bu sayede havacılıkta, Jeomanyetik haritalandırma çalışmalarında ve Manyeto kardiyografi gibi manyetik alanların hassas bir şekilde ölçülmesini gerektirecek alanlar için vektörel bir manyetometre geliştirmek amaçlanmıştır.</a:t>
            </a:r>
          </a:p>
        </p:txBody>
      </p:sp>
      <p:sp>
        <p:nvSpPr>
          <p:cNvPr id="18" name="Metin kutusu 17">
            <a:extLst>
              <a:ext uri="{FF2B5EF4-FFF2-40B4-BE49-F238E27FC236}">
                <a16:creationId xmlns:a16="http://schemas.microsoft.com/office/drawing/2014/main" id="{A73CCBBF-1BBB-69B3-140B-CB79341F993D}"/>
              </a:ext>
            </a:extLst>
          </p:cNvPr>
          <p:cNvSpPr txBox="1"/>
          <p:nvPr/>
        </p:nvSpPr>
        <p:spPr>
          <a:xfrm>
            <a:off x="1755847" y="13066806"/>
            <a:ext cx="8574292" cy="1200329"/>
          </a:xfrm>
          <a:prstGeom prst="rect">
            <a:avLst/>
          </a:prstGeom>
          <a:noFill/>
        </p:spPr>
        <p:txBody>
          <a:bodyPr wrap="square" rtlCol="0">
            <a:spAutoFit/>
          </a:bodyPr>
          <a:lstStyle/>
          <a:p>
            <a:r>
              <a:rPr lang="tr-TR" sz="2400" dirty="0"/>
              <a:t>Algılanan sinyalin yorumlanabilmesi için bu sinyalin ortalama ve etkin değerini bilmemiz yeterlidir. Bunun için ADC üzerinden alınan veriyi sayısal olarak işleyecek bir sistem tasarlanmıştır. </a:t>
            </a:r>
          </a:p>
        </p:txBody>
      </p:sp>
      <p:sp>
        <p:nvSpPr>
          <p:cNvPr id="45" name="Dikdörtgen: Köşeleri Yuvarlatılmış 44">
            <a:extLst>
              <a:ext uri="{FF2B5EF4-FFF2-40B4-BE49-F238E27FC236}">
                <a16:creationId xmlns:a16="http://schemas.microsoft.com/office/drawing/2014/main" id="{9A1E0AEA-0EB9-0892-BF50-4BA47DD68AA4}"/>
              </a:ext>
            </a:extLst>
          </p:cNvPr>
          <p:cNvSpPr/>
          <p:nvPr/>
        </p:nvSpPr>
        <p:spPr>
          <a:xfrm>
            <a:off x="72362" y="19121377"/>
            <a:ext cx="12324123" cy="6143741"/>
          </a:xfrm>
          <a:prstGeom prst="roundRect">
            <a:avLst/>
          </a:prstGeom>
          <a:ln>
            <a:noFill/>
          </a:ln>
        </p:spPr>
        <p:style>
          <a:lnRef idx="0">
            <a:scrgbClr r="0" g="0" b="0"/>
          </a:lnRef>
          <a:fillRef idx="1001">
            <a:schemeClr val="lt2"/>
          </a:fillRef>
          <a:effectRef idx="0">
            <a:scrgbClr r="0" g="0" b="0"/>
          </a:effectRef>
          <a:fontRef idx="minor">
            <a:schemeClr val="lt1"/>
          </a:fontRef>
        </p:style>
        <p:txBody>
          <a:bodyPr rtlCol="0" anchor="ctr"/>
          <a:lstStyle/>
          <a:p>
            <a:pPr algn="ctr"/>
            <a:endParaRPr lang="tr-TR"/>
          </a:p>
        </p:txBody>
      </p:sp>
      <p:pic>
        <p:nvPicPr>
          <p:cNvPr id="15" name="Resim 14">
            <a:extLst>
              <a:ext uri="{FF2B5EF4-FFF2-40B4-BE49-F238E27FC236}">
                <a16:creationId xmlns:a16="http://schemas.microsoft.com/office/drawing/2014/main" id="{B2597D2C-728C-6381-F99F-1CAEF4BDD0A9}"/>
              </a:ext>
            </a:extLst>
          </p:cNvPr>
          <p:cNvPicPr>
            <a:picLocks noChangeAspect="1"/>
          </p:cNvPicPr>
          <p:nvPr/>
        </p:nvPicPr>
        <p:blipFill>
          <a:blip r:embed="rId4"/>
          <a:stretch>
            <a:fillRect/>
          </a:stretch>
        </p:blipFill>
        <p:spPr>
          <a:xfrm>
            <a:off x="1794289" y="14733978"/>
            <a:ext cx="8581908" cy="3004205"/>
          </a:xfrm>
          <a:prstGeom prst="rect">
            <a:avLst/>
          </a:prstGeom>
        </p:spPr>
      </p:pic>
      <p:pic>
        <p:nvPicPr>
          <p:cNvPr id="24" name="Resim 23" descr="devre, metin, ekran görüntüsü, harita içeren bir resim&#10;&#10;Açıklama otomatik olarak oluşturuldu">
            <a:extLst>
              <a:ext uri="{FF2B5EF4-FFF2-40B4-BE49-F238E27FC236}">
                <a16:creationId xmlns:a16="http://schemas.microsoft.com/office/drawing/2014/main" id="{99BE12E8-1526-B12C-B3B1-202E8D3C15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650992" y="17657821"/>
            <a:ext cx="2591022" cy="2591022"/>
          </a:xfrm>
          <a:prstGeom prst="rect">
            <a:avLst/>
          </a:prstGeom>
        </p:spPr>
      </p:pic>
      <p:pic>
        <p:nvPicPr>
          <p:cNvPr id="27" name="Resim 26">
            <a:extLst>
              <a:ext uri="{FF2B5EF4-FFF2-40B4-BE49-F238E27FC236}">
                <a16:creationId xmlns:a16="http://schemas.microsoft.com/office/drawing/2014/main" id="{120B095A-4BFE-6B19-3F57-AB49DBD8D7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auto">
          <a:xfrm>
            <a:off x="12777058" y="17703297"/>
            <a:ext cx="5745414" cy="2111984"/>
          </a:xfrm>
          <a:prstGeom prst="rect">
            <a:avLst/>
          </a:prstGeom>
          <a:noFill/>
          <a:ln>
            <a:noFill/>
          </a:ln>
        </p:spPr>
      </p:pic>
      <p:pic>
        <p:nvPicPr>
          <p:cNvPr id="28" name="Resim 27">
            <a:extLst>
              <a:ext uri="{FF2B5EF4-FFF2-40B4-BE49-F238E27FC236}">
                <a16:creationId xmlns:a16="http://schemas.microsoft.com/office/drawing/2014/main" id="{DAC36D92-494F-9B2B-113F-BE500ADDC067}"/>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0062" y="19943304"/>
            <a:ext cx="8476588" cy="937886"/>
          </a:xfrm>
          <a:prstGeom prst="rect">
            <a:avLst/>
          </a:prstGeom>
          <a:noFill/>
        </p:spPr>
      </p:pic>
      <p:pic>
        <p:nvPicPr>
          <p:cNvPr id="40" name="Resim 39" descr="alet, elektronik mühendisliği, devre bileşeni, elektronik bileşen içeren bir resim&#10;&#10;Açıklama otomatik olarak oluşturuldu">
            <a:extLst>
              <a:ext uri="{FF2B5EF4-FFF2-40B4-BE49-F238E27FC236}">
                <a16:creationId xmlns:a16="http://schemas.microsoft.com/office/drawing/2014/main" id="{5D8AF5A5-006B-40B4-CAB9-AD22A22840A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001242" y="22129801"/>
            <a:ext cx="1789186" cy="3068517"/>
          </a:xfrm>
          <a:prstGeom prst="rect">
            <a:avLst/>
          </a:prstGeom>
        </p:spPr>
      </p:pic>
      <p:sp>
        <p:nvSpPr>
          <p:cNvPr id="48" name="Dikdörtgen: Köşeleri Yuvarlatılmış 47">
            <a:extLst>
              <a:ext uri="{FF2B5EF4-FFF2-40B4-BE49-F238E27FC236}">
                <a16:creationId xmlns:a16="http://schemas.microsoft.com/office/drawing/2014/main" id="{CFDEC2AA-F0FA-283B-F77D-771C6475A6C3}"/>
              </a:ext>
            </a:extLst>
          </p:cNvPr>
          <p:cNvSpPr/>
          <p:nvPr/>
        </p:nvSpPr>
        <p:spPr>
          <a:xfrm>
            <a:off x="12761210" y="21867956"/>
            <a:ext cx="8726670" cy="3551657"/>
          </a:xfrm>
          <a:prstGeom prst="roundRect">
            <a:avLst/>
          </a:prstGeom>
          <a:ln>
            <a:noFill/>
          </a:ln>
        </p:spPr>
        <p:style>
          <a:lnRef idx="0">
            <a:scrgbClr r="0" g="0" b="0"/>
          </a:lnRef>
          <a:fillRef idx="1001">
            <a:schemeClr val="lt2"/>
          </a:fillRef>
          <a:effectRef idx="0">
            <a:scrgbClr r="0" g="0" b="0"/>
          </a:effectRef>
          <a:fontRef idx="minor">
            <a:schemeClr val="lt1"/>
          </a:fontRef>
        </p:style>
        <p:txBody>
          <a:bodyPr rtlCol="0" anchor="ctr"/>
          <a:lstStyle/>
          <a:p>
            <a:pPr algn="ctr"/>
            <a:endParaRPr lang="tr-TR"/>
          </a:p>
        </p:txBody>
      </p:sp>
      <p:pic>
        <p:nvPicPr>
          <p:cNvPr id="47" name="Resim 46">
            <a:extLst>
              <a:ext uri="{FF2B5EF4-FFF2-40B4-BE49-F238E27FC236}">
                <a16:creationId xmlns:a16="http://schemas.microsoft.com/office/drawing/2014/main" id="{674F4154-0505-5C42-A267-397EE77FEE3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365912" y="23258764"/>
            <a:ext cx="2876102" cy="2060162"/>
          </a:xfrm>
          <a:prstGeom prst="rect">
            <a:avLst/>
          </a:prstGeom>
        </p:spPr>
      </p:pic>
      <p:pic>
        <p:nvPicPr>
          <p:cNvPr id="49" name="Resim 48">
            <a:extLst>
              <a:ext uri="{FF2B5EF4-FFF2-40B4-BE49-F238E27FC236}">
                <a16:creationId xmlns:a16="http://schemas.microsoft.com/office/drawing/2014/main" id="{E6357C40-2B65-DF35-70A9-A5A81366A263}"/>
              </a:ext>
            </a:extLst>
          </p:cNvPr>
          <p:cNvPicPr>
            <a:picLocks noChangeAspect="1"/>
          </p:cNvPicPr>
          <p:nvPr/>
        </p:nvPicPr>
        <p:blipFill rotWithShape="1">
          <a:blip r:embed="rId10">
            <a:extLst>
              <a:ext uri="{28A0092B-C50C-407E-A947-70E740481C1C}">
                <a14:useLocalDpi xmlns:a14="http://schemas.microsoft.com/office/drawing/2010/main" val="0"/>
              </a:ext>
            </a:extLst>
          </a:blip>
          <a:srcRect l="15344" t="23874" r="29221" b="24730"/>
          <a:stretch/>
        </p:blipFill>
        <p:spPr bwMode="auto">
          <a:xfrm>
            <a:off x="13023279" y="23203402"/>
            <a:ext cx="4967307" cy="1837006"/>
          </a:xfrm>
          <a:prstGeom prst="rect">
            <a:avLst/>
          </a:prstGeom>
          <a:ln>
            <a:noFill/>
          </a:ln>
          <a:extLst>
            <a:ext uri="{53640926-AAD7-44D8-BBD7-CCE9431645EC}">
              <a14:shadowObscured xmlns:a14="http://schemas.microsoft.com/office/drawing/2010/main"/>
            </a:ext>
          </a:extLst>
        </p:spPr>
      </p:pic>
      <p:sp>
        <p:nvSpPr>
          <p:cNvPr id="50" name="Metin kutusu 49">
            <a:extLst>
              <a:ext uri="{FF2B5EF4-FFF2-40B4-BE49-F238E27FC236}">
                <a16:creationId xmlns:a16="http://schemas.microsoft.com/office/drawing/2014/main" id="{2B9307E2-8D56-5A01-9B3C-3757D4CC0103}"/>
              </a:ext>
            </a:extLst>
          </p:cNvPr>
          <p:cNvSpPr txBox="1"/>
          <p:nvPr/>
        </p:nvSpPr>
        <p:spPr>
          <a:xfrm>
            <a:off x="12913588" y="22069533"/>
            <a:ext cx="8574292" cy="830997"/>
          </a:xfrm>
          <a:prstGeom prst="rect">
            <a:avLst/>
          </a:prstGeom>
          <a:noFill/>
        </p:spPr>
        <p:txBody>
          <a:bodyPr wrap="square" rtlCol="0">
            <a:spAutoFit/>
          </a:bodyPr>
          <a:lstStyle/>
          <a:p>
            <a:r>
              <a:rPr lang="tr-TR" sz="2400" dirty="0"/>
              <a:t>Simülasyon aşamasında tasarlanan analog sinyal işleme devresine ve uyarma devresine ilişkin simülasyonlar yapılmıştır.</a:t>
            </a:r>
          </a:p>
        </p:txBody>
      </p:sp>
      <p:pic>
        <p:nvPicPr>
          <p:cNvPr id="1112" name="Resim 1111">
            <a:extLst>
              <a:ext uri="{FF2B5EF4-FFF2-40B4-BE49-F238E27FC236}">
                <a16:creationId xmlns:a16="http://schemas.microsoft.com/office/drawing/2014/main" id="{6AE00115-6B1E-D8E8-AE31-540CAB1324B9}"/>
              </a:ext>
            </a:extLst>
          </p:cNvPr>
          <p:cNvPicPr>
            <a:picLocks noChangeAspect="1"/>
          </p:cNvPicPr>
          <p:nvPr/>
        </p:nvPicPr>
        <p:blipFill>
          <a:blip r:embed="rId11"/>
          <a:stretch>
            <a:fillRect/>
          </a:stretch>
        </p:blipFill>
        <p:spPr>
          <a:xfrm>
            <a:off x="471456" y="21676266"/>
            <a:ext cx="8969133" cy="3248587"/>
          </a:xfrm>
          <a:prstGeom prst="rect">
            <a:avLst/>
          </a:prstGeom>
        </p:spPr>
      </p:pic>
      <p:cxnSp>
        <p:nvCxnSpPr>
          <p:cNvPr id="1115" name="Düz Bağlayıcı 1114">
            <a:extLst>
              <a:ext uri="{FF2B5EF4-FFF2-40B4-BE49-F238E27FC236}">
                <a16:creationId xmlns:a16="http://schemas.microsoft.com/office/drawing/2014/main" id="{94CF0721-809B-D12D-C3C5-DFBEC46CC3F5}"/>
              </a:ext>
            </a:extLst>
          </p:cNvPr>
          <p:cNvCxnSpPr>
            <a:cxnSpLocks/>
          </p:cNvCxnSpPr>
          <p:nvPr/>
        </p:nvCxnSpPr>
        <p:spPr>
          <a:xfrm>
            <a:off x="2133600" y="21336000"/>
            <a:ext cx="5242560" cy="0"/>
          </a:xfrm>
          <a:prstGeom prst="line">
            <a:avLst/>
          </a:prstGeom>
        </p:spPr>
        <p:style>
          <a:lnRef idx="1">
            <a:schemeClr val="accent1"/>
          </a:lnRef>
          <a:fillRef idx="0">
            <a:schemeClr val="accent1"/>
          </a:fillRef>
          <a:effectRef idx="0">
            <a:schemeClr val="accent1"/>
          </a:effectRef>
          <a:fontRef idx="minor">
            <a:schemeClr val="tx1"/>
          </a:fontRef>
        </p:style>
      </p:cxnSp>
      <p:pic>
        <p:nvPicPr>
          <p:cNvPr id="1117" name="Resim 1116">
            <a:extLst>
              <a:ext uri="{FF2B5EF4-FFF2-40B4-BE49-F238E27FC236}">
                <a16:creationId xmlns:a16="http://schemas.microsoft.com/office/drawing/2014/main" id="{D07234CB-6A56-5D56-94ED-109C4A50645C}"/>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9465459" y="19796834"/>
            <a:ext cx="2789737" cy="2092303"/>
          </a:xfrm>
          <a:prstGeom prst="rect">
            <a:avLst/>
          </a:prstGeom>
          <a:noFill/>
          <a:ln>
            <a:noFill/>
          </a:ln>
        </p:spPr>
      </p:pic>
      <p:cxnSp>
        <p:nvCxnSpPr>
          <p:cNvPr id="1123" name="Düz Ok Bağlayıcısı 1122">
            <a:extLst>
              <a:ext uri="{FF2B5EF4-FFF2-40B4-BE49-F238E27FC236}">
                <a16:creationId xmlns:a16="http://schemas.microsoft.com/office/drawing/2014/main" id="{8655F7E9-B919-96B5-DD9F-4ABE7BDEB84D}"/>
              </a:ext>
            </a:extLst>
          </p:cNvPr>
          <p:cNvCxnSpPr>
            <a:cxnSpLocks/>
          </p:cNvCxnSpPr>
          <p:nvPr/>
        </p:nvCxnSpPr>
        <p:spPr>
          <a:xfrm>
            <a:off x="10233660" y="20436715"/>
            <a:ext cx="426720" cy="812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5" name="Düz Ok Bağlayıcısı 1124">
            <a:extLst>
              <a:ext uri="{FF2B5EF4-FFF2-40B4-BE49-F238E27FC236}">
                <a16:creationId xmlns:a16="http://schemas.microsoft.com/office/drawing/2014/main" id="{595C9099-A22A-E1E0-9EF8-843ABA402153}"/>
              </a:ext>
            </a:extLst>
          </p:cNvPr>
          <p:cNvCxnSpPr>
            <a:cxnSpLocks/>
          </p:cNvCxnSpPr>
          <p:nvPr/>
        </p:nvCxnSpPr>
        <p:spPr>
          <a:xfrm>
            <a:off x="10233660" y="20436715"/>
            <a:ext cx="853440" cy="475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9" name="Metin kutusu 1128">
            <a:extLst>
              <a:ext uri="{FF2B5EF4-FFF2-40B4-BE49-F238E27FC236}">
                <a16:creationId xmlns:a16="http://schemas.microsoft.com/office/drawing/2014/main" id="{8D5D23E9-E2D7-4148-FD67-2490893A4844}"/>
              </a:ext>
            </a:extLst>
          </p:cNvPr>
          <p:cNvSpPr txBox="1"/>
          <p:nvPr/>
        </p:nvSpPr>
        <p:spPr>
          <a:xfrm>
            <a:off x="9657054" y="20196051"/>
            <a:ext cx="995785" cy="261610"/>
          </a:xfrm>
          <a:prstGeom prst="rect">
            <a:avLst/>
          </a:prstGeom>
          <a:noFill/>
        </p:spPr>
        <p:txBody>
          <a:bodyPr wrap="none" rtlCol="0">
            <a:spAutoFit/>
          </a:bodyPr>
          <a:lstStyle/>
          <a:p>
            <a:r>
              <a:rPr lang="tr-TR" sz="1100" dirty="0" err="1"/>
              <a:t>Fluxgate</a:t>
            </a:r>
            <a:r>
              <a:rPr lang="tr-TR" sz="1100" dirty="0"/>
              <a:t> Etkisi</a:t>
            </a:r>
          </a:p>
        </p:txBody>
      </p:sp>
    </p:spTree>
    <p:extLst>
      <p:ext uri="{BB962C8B-B14F-4D97-AF65-F5344CB8AC3E}">
        <p14:creationId xmlns:p14="http://schemas.microsoft.com/office/powerpoint/2010/main" val="3586843928"/>
      </p:ext>
    </p:extLst>
  </p:cSld>
  <p:clrMapOvr>
    <a:masterClrMapping/>
  </p:clrMapOvr>
</p:sld>
</file>

<file path=ppt/theme/theme1.xml><?xml version="1.0" encoding="utf-8"?>
<a:theme xmlns:a="http://schemas.openxmlformats.org/drawingml/2006/main" name="Office Teması">
  <a:themeElements>
    <a:clrScheme name="Office Teması">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eması">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386</TotalTime>
  <Words>307</Words>
  <Application>Microsoft Office PowerPoint</Application>
  <PresentationFormat>Özel</PresentationFormat>
  <Paragraphs>20</Paragraphs>
  <Slides>1</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vt:i4>
      </vt:variant>
    </vt:vector>
  </HeadingPairs>
  <TitlesOfParts>
    <vt:vector size="5" baseType="lpstr">
      <vt:lpstr>Arial</vt:lpstr>
      <vt:lpstr>Calibri</vt:lpstr>
      <vt:lpstr>Calibri Light</vt:lpstr>
      <vt:lpstr>Office Teması</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İsmail H. Altaş</dc:creator>
  <cp:lastModifiedBy>erdem metin</cp:lastModifiedBy>
  <cp:revision>16</cp:revision>
  <dcterms:created xsi:type="dcterms:W3CDTF">2020-05-17T01:34:20Z</dcterms:created>
  <dcterms:modified xsi:type="dcterms:W3CDTF">2023-06-21T20:48:39Z</dcterms:modified>
</cp:coreProperties>
</file>